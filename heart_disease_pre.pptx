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0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80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FFF-4537-A4FD-39CF8A763993}"/>
              </c:ext>
            </c:extLst>
          </c:dPt>
          <c:dPt>
            <c:idx val="1"/>
            <c:invertIfNegative val="0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FFF-4537-A4FD-39CF8A76399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Disease (410)</c:v>
                </c:pt>
                <c:pt idx="1">
                  <c:v>Heart Disease (508)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410</c:v>
                </c:pt>
                <c:pt idx="1">
                  <c:v>508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FFF-4537-A4FD-39CF8A7639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F12-4BA2-A78C-9348B8959629}"/>
              </c:ext>
            </c:extLst>
          </c:dPt>
          <c:dPt>
            <c:idx val="1"/>
            <c:bubble3D val="0"/>
            <c:spPr>
              <a:solidFill>
                <a:srgbClr val="0EA5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F12-4BA2-A78C-9348B8959629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F12-4BA2-A78C-9348B8959629}"/>
              </c:ext>
            </c:extLst>
          </c:dPt>
          <c:dPt>
            <c:idx val="3"/>
            <c:bubble3D val="0"/>
            <c:spPr>
              <a:solidFill>
                <a:srgbClr val="1B3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F12-4BA2-A78C-9348B8959629}"/>
              </c:ext>
            </c:extLst>
          </c:dPt>
          <c:cat>
            <c:strRef>
              <c:f>Sheet1!$A$2:$A$5</c:f>
              <c:strCache>
                <c:ptCount val="4"/>
                <c:pt idx="0">
                  <c:v>ASY (54%)</c:v>
                </c:pt>
                <c:pt idx="1">
                  <c:v>NAP (22%)</c:v>
                </c:pt>
                <c:pt idx="2">
                  <c:v>ATA (19%)</c:v>
                </c:pt>
                <c:pt idx="3">
                  <c:v>TA (5%)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496</c:v>
                </c:pt>
                <c:pt idx="1">
                  <c:v>203</c:v>
                </c:pt>
                <c:pt idx="2">
                  <c:v>173</c:v>
                </c:pt>
                <c:pt idx="3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F12-4BA2-A78C-9348B89596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0EA5C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ST_Slope</c:v>
                </c:pt>
                <c:pt idx="1">
                  <c:v>Ex.Angina</c:v>
                </c:pt>
                <c:pt idx="2">
                  <c:v>Oldpeak</c:v>
                </c:pt>
                <c:pt idx="3">
                  <c:v>MaxHR</c:v>
                </c:pt>
                <c:pt idx="4">
                  <c:v>ChestPain</c:v>
                </c:pt>
                <c:pt idx="5">
                  <c:v>Sex</c:v>
                </c:pt>
                <c:pt idx="6">
                  <c:v>Age</c:v>
                </c:pt>
                <c:pt idx="7">
                  <c:v>FastingBS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0.55900000000000005</c:v>
                </c:pt>
                <c:pt idx="1">
                  <c:v>0.49399999999999999</c:v>
                </c:pt>
                <c:pt idx="2">
                  <c:v>0.40400000000000003</c:v>
                </c:pt>
                <c:pt idx="3">
                  <c:v>0.4</c:v>
                </c:pt>
                <c:pt idx="4">
                  <c:v>0.38700000000000001</c:v>
                </c:pt>
                <c:pt idx="5">
                  <c:v>0.30499999999999999</c:v>
                </c:pt>
                <c:pt idx="6">
                  <c:v>0.28199999999999997</c:v>
                </c:pt>
                <c:pt idx="7">
                  <c:v>0.26700000000000002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B2-41B8-B85F-F24D1A41E6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EA5C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AD2-4792-A387-DB81BDC64DDA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D2-4792-A387-DB81BDC64DDA}"/>
              </c:ext>
            </c:extLst>
          </c:dPt>
          <c:dPt>
            <c:idx val="2"/>
            <c:invertIfNegative val="0"/>
            <c:bubble3D val="0"/>
            <c:spPr>
              <a:solidFill>
                <a:srgbClr val="1B3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AD2-4792-A387-DB81BDC64DD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
Regression</c:v>
                </c:pt>
                <c:pt idx="1">
                  <c:v>Random
Forest</c:v>
                </c:pt>
                <c:pt idx="2">
                  <c:v>SVM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</c:v>
                </c:pt>
                <c:pt idx="1">
                  <c:v>87</c:v>
                </c:pt>
                <c:pt idx="2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AD2-4792-A387-DB81BDC64D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9"/>
          <c:min val="83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122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ابدأ بتعريف نفسك واشرح إن المشروع ده بيحاول يساعد الأطباء والمرضى في التنبؤ بأمراض القلب مبكرًا باستخدام الذكاء الاصطناعي.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أمراض القلب هي السبب الأول للوفاة حول العالم. المشروع ده بيحاول يساعد في الكشف المبكر عن طريق نموذج ذكاء اصطناعي يحلل بيانات المريض ويعطي نتيجة فورية.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الداتاسيت فيها 918 مريض بـ 12 خاصية. أشرح إيه هي الخصائص المستخدمة وليه اخترناها.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الخطوات اللي اتبعناها من تجميع البيانات لحد نشر التطبيق. ركز على خطوة Feature Engineering وتحويل BP لفئات.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توزيع البيانات — 55% من المرضى عندهم أمراض قلب. ST_Slope هو أقوى مؤشر. الألم الصدري الصامت (ASY) هو الأخطر.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خطوة Feature Engineering — إحنا عملنا خاصية جديدة (BP_Category) وعملنا Label Encoding لكل الأعمدة النصية واخترنا أهم 10 خصائص بالارتباط.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إننا جربنا 3 نماذج وقارنا بينهم. اخترنا Random Forest لأنه أعطانا أحسن نتائج مع تناسق بين Precision و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الموديل النهائي وصل لـ 87% دقة و90% Recall على حالات أمراض القلب — وده مهم جداً في الطب، لأن Recall العالي معناه إننا بنكتشف أكبر عدد ممكن من الحالات.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التطبيق — بيتيح للمستخدم يدخل بيانات المريض من الـ sidebar ويضغط Predict ويشوف النتيجة فورًا مع نسبة الاحتمالية.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41A7F-216F-C928-8E0B-059B8BC84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8DFA95-29AD-3DEE-4229-FCA3139C6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2084C6-C1A5-F2DB-8FAA-C6A88C139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التطبيق — بيتيح للمستخدم يدخل بيانات المريض من الـ sidebar ويضغط Predict ويشوف النتيجة فورًا مع نسبة الاحتمالية.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05E47-B1FD-29E1-474F-4291163EB8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084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اختم بإن المشروع حقق هدفه — نموذج دقيق ومنتشر كتطبيق كامل. ممكن تذكر أفكار مستقبلية زي إضافة تفسيرات SHAP أو ربطه بـ API للمستشفيات.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2926080"/>
            <a:ext cx="1828800" cy="1828800"/>
          </a:xfrm>
          <a:prstGeom prst="ellipse">
            <a:avLst/>
          </a:prstGeom>
          <a:solidFill>
            <a:srgbClr val="0A7A98">
              <a:alpha val="40000"/>
            </a:srgbClr>
          </a:solidFill>
          <a:ln w="12700">
            <a:solidFill>
              <a:srgbClr val="0A7A9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6576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1887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Disease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A5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System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3200400" cy="36576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Early Cardiac Risk Detection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Heart Failure Dataset  |  </a:t>
            </a:r>
            <a:r>
              <a:rPr lang="en-US" sz="1100" b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 |  </a:t>
            </a:r>
            <a:r>
              <a:rPr lang="en-US" sz="1100" b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</a:t>
            </a:r>
            <a:endParaRPr lang="en-US" sz="11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D666CC5-025A-234F-0AF1-42B326EBC451}"/>
              </a:ext>
            </a:extLst>
          </p:cNvPr>
          <p:cNvSpPr/>
          <p:nvPr/>
        </p:nvSpPr>
        <p:spPr>
          <a:xfrm>
            <a:off x="548640" y="3429808"/>
            <a:ext cx="4122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sara ahmed 231001837</a:t>
            </a:r>
          </a:p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Supervision of: Dr. Mohamed </a:t>
            </a:r>
            <a:r>
              <a:rPr lang="en-US" sz="1500" i="1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Elsayeh</a:t>
            </a: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560320" cy="1097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53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of Death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88720"/>
            <a:ext cx="2560320" cy="109728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417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EA5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17.9M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00400" y="2148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Per Year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CVD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188720"/>
            <a:ext cx="256032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417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035040" y="2148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Can Be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 Early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diagnosis relies on expensive tests and specialist expertise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dramatically improves survival rates and treatment outcomes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tools can provide fast, accessible preliminary screening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enables clinicians to get instant risk assessments from routine data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286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A5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918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6576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87168" y="10972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487168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A5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2487168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08576" y="10972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08576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A5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55.3%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608576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Cases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29984" y="10972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729984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A5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729984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Patients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2194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Used for Prediction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60320"/>
          <a:ext cx="8412480" cy="2414016"/>
        </p:xfrm>
        <a:graphic>
          <a:graphicData uri="http://schemas.openxmlformats.org/drawingml/2006/table">
            <a:tbl>
              <a:tblPr/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Patient's age in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ChestPainType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 / ATA / NAP / 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RestingBP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Resting blood pressure (mmHg)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Cholesterol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Serum cholesterol (mg/dl)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heart rate achieved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ST_Slope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Slope of peak exercise ST 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ExerciseAngina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Exercise-induced angina (Y/N)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25880"/>
            <a:ext cx="502920" cy="502920"/>
          </a:xfrm>
          <a:prstGeom prst="ellipse">
            <a:avLst/>
          </a:prstGeom>
          <a:solidFill>
            <a:srgbClr val="0EA5C8"/>
          </a:solidFill>
          <a:ln w="12700">
            <a:solidFill>
              <a:srgbClr val="0EA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13533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9385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Heart Failure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(918 records)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3258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13632" y="13533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&amp; Cleaning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19385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zeros, visualize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325880"/>
            <a:ext cx="502920" cy="50292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48272" y="13533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44768" y="19385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categorization,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0EA5C8"/>
          </a:solidFill>
          <a:ln w="12700">
            <a:solidFill>
              <a:srgbClr val="0EA5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8992" y="31821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" y="37673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LR, RF, SVM;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best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30175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31546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13632" y="31821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10128" y="37673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 validation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30175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3154680"/>
            <a:ext cx="502920" cy="50292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48272" y="31821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44768" y="37673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interface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286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Distribution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508760"/>
          <a:ext cx="40233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Chest Pain Type Breakdown</a:t>
            </a:r>
            <a:endParaRPr lang="en-US" sz="14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754880" y="1508760"/>
          <a:ext cx="40233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 4"/>
          <p:cNvSpPr/>
          <p:nvPr/>
        </p:nvSpPr>
        <p:spPr>
          <a:xfrm>
            <a:off x="36576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from EDA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365760" y="3931920"/>
            <a:ext cx="164592" cy="16459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94360" y="38953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ST_Slope &amp; ExerciseAngina are the strongest predictors of heart disease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365760" y="4315968"/>
            <a:ext cx="164592" cy="164592"/>
          </a:xfrm>
          <a:prstGeom prst="ellipse">
            <a:avLst/>
          </a:prstGeom>
          <a:solidFill>
            <a:srgbClr val="0EA5C8"/>
          </a:solidFill>
          <a:ln w="12700">
            <a:solidFill>
              <a:srgbClr val="0EA5C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94360" y="4279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heart disease have a higher mean age (55.9 vs 50.6 years)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365760" y="470001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9436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 (Asymptomatic) chest pain type is most common among disease patients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Preprocessing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6002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values in Cholesterol &amp; RestingBP replaced with median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found in the dataset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rows detected (918 unique records)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correct data types for all columns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 Categorization (New Feature)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3337560"/>
            <a:ext cx="3566160" cy="347472"/>
          </a:xfrm>
          <a:prstGeom prst="roundRect">
            <a:avLst>
              <a:gd name="adj" fmla="val 13158"/>
            </a:avLst>
          </a:prstGeom>
          <a:solidFill>
            <a:srgbClr val="22C55E">
              <a:alpha val="1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 (&lt; 120)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3749040"/>
            <a:ext cx="3566160" cy="347472"/>
          </a:xfrm>
          <a:prstGeom prst="roundRect">
            <a:avLst>
              <a:gd name="adj" fmla="val 13158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7673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Prehypertension  (120–139)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4160520"/>
            <a:ext cx="3566160" cy="347472"/>
          </a:xfrm>
          <a:prstGeom prst="roundRect">
            <a:avLst>
              <a:gd name="adj" fmla="val 13158"/>
            </a:avLst>
          </a:prstGeom>
          <a:solidFill>
            <a:srgbClr val="E53E3E">
              <a:alpha val="15000"/>
            </a:srgbClr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4178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  (≥ 140)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0" y="1097280"/>
            <a:ext cx="42062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0916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&amp; Scaling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09160" y="16184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applied to: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709160" y="1938528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 →  M=1, F=0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ChestPainType  →  0-3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RestingECG  →  0-2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ExerciseAngina  →  Y=1, N=0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ST_Slope  →  0-2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BP_Category  →  0-2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09160" y="3493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(corr &gt; 0.1):</a:t>
            </a:r>
            <a:endParaRPr lang="en-US" sz="12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572000" y="3794760"/>
          <a:ext cx="420624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 &amp; Comparison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14300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325880" y="1280160"/>
            <a:ext cx="685800" cy="685800"/>
          </a:xfrm>
          <a:prstGeom prst="ellipse">
            <a:avLst/>
          </a:prstGeom>
          <a:solidFill>
            <a:srgbClr val="0EA5C8"/>
          </a:solidFill>
          <a:ln w="12700">
            <a:solidFill>
              <a:srgbClr val="0EA5C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2588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Logistic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Regression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2057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2560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828800" y="2560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28895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828800" y="2889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65760" y="32186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828800" y="32186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00400" y="114300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000000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0" y="914400"/>
            <a:ext cx="1691640" cy="320040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0" y="914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SELECTED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60520" y="128016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Random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Forest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200400" y="2057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200400" y="2560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663440" y="2560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200400" y="28895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663440" y="2889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200400" y="32186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663440" y="32186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035040" y="114300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995160" y="1280160"/>
            <a:ext cx="685800" cy="6858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9516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Support Vector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Machine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035040" y="2057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035040" y="2560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498080" y="2560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035040" y="28895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498080" y="2889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035040" y="32186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498080" y="32186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Comparison</a:t>
            </a:r>
            <a:endParaRPr lang="en-US" sz="130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365760" y="4114800"/>
          <a:ext cx="4114800" cy="91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9" name="Text 35"/>
          <p:cNvSpPr/>
          <p:nvPr/>
        </p:nvSpPr>
        <p:spPr>
          <a:xfrm>
            <a:off x="4663440" y="3794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Random Forest?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4663440" y="4133088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overall accuracy (87%) before tuning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precision &amp; recall — critical for medical diagnosis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 relationships and feature interactions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feature importance scores for interpretability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Results (After Tuning)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1170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Hyperparameters (GridSearchCV)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153619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 150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 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min_samples_split: 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cv: 5-fold  |  scoring: Recall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0" y="11704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A5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4572000" y="17647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66560" y="109728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766560" y="11704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6766560" y="17647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0" y="228600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0" y="23591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4572000" y="29535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766560" y="228600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66560" y="23591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53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6766560" y="29535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576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Classification Report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17520"/>
          <a:ext cx="8412480" cy="1645920"/>
        </p:xfrm>
        <a:graphic>
          <a:graphicData uri="http://schemas.openxmlformats.org/drawingml/2006/table">
            <a:tbl>
              <a:tblPr/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Disease (0)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Disease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A5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Avg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Deployment: Streamlit Web Application</a:t>
            </a:r>
            <a:endParaRPr lang="en-US" sz="25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F97FC06-3980-E24E-E4B8-D16559F27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38" y="1161124"/>
            <a:ext cx="8122067" cy="37212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14A535-795F-DCEA-1411-7144BB14E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3F926BC-D84C-16B7-6CD6-3B2A17DD294C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4AA89FA-68BB-EFD7-5D91-FF8B23056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6CCB248-786B-B338-B197-DD4A43D4656D}"/>
              </a:ext>
            </a:extLst>
          </p:cNvPr>
          <p:cNvSpPr/>
          <p:nvPr/>
        </p:nvSpPr>
        <p:spPr>
          <a:xfrm>
            <a:off x="10058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Deployment: Streamlit Web Application</a:t>
            </a:r>
            <a:endParaRPr lang="en-US" sz="2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2EF1FF-7B89-5232-E4E0-8F17D562E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713" y="1188720"/>
            <a:ext cx="8122067" cy="373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030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2743200"/>
            <a:ext cx="2743200" cy="27432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A7A98">
              <a:alpha val="30000"/>
            </a:srgbClr>
          </a:solidFill>
          <a:ln w="12700">
            <a:solidFill>
              <a:srgbClr val="0A7A9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Key Takeaways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1B3A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554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 Accuracy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19659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outperformed Logistic Regression &amp; SVM after GridSearch tuning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141732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1B3A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8288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554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 Recall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486400" y="19659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sensitivity ensures most heart disease cases are correctly flagged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288036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1B3A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918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30175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Key Features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097280" y="34290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ST_Slope and ExerciseAngina are the strongest predictors of cardiac risk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46320" y="288036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1B3A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29184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0" y="30175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Deployment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486400" y="34290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Streamlit app with saved model, encoders &amp; scalers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Add SHAP explanations, expand dataset, build REST API for hospital integration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918</Words>
  <Application>Microsoft Office PowerPoint</Application>
  <PresentationFormat>On-screen Show (16:9)</PresentationFormat>
  <Paragraphs>214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Prediction</dc:title>
  <dc:subject>PptxGenJS Presentation</dc:subject>
  <dc:creator>PptxGenJS</dc:creator>
  <cp:lastModifiedBy>sara ahmed</cp:lastModifiedBy>
  <cp:revision>2</cp:revision>
  <dcterms:created xsi:type="dcterms:W3CDTF">2026-06-13T13:55:09Z</dcterms:created>
  <dcterms:modified xsi:type="dcterms:W3CDTF">2026-06-14T08:47:13Z</dcterms:modified>
</cp:coreProperties>
</file>